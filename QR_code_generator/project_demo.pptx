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QR Code Generator Bot presentation. This project demonstrates a production-ready Telegram bot built on n8n with free HTTPS via Cloudflare Tunnel.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challenge: Telegram's API mandates HTTPS webhooks. Localhost is blocked. Free ngrok tunnels change URLs constantly, requiring manual environment variable updates. Test mode in n8n only runs once. This project solves all of this with a zero-touch setup.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Cloudflare Tunnel gives us a stable HTTPS URL that doesn't change every session. The Python script extracts the tunnel URL automatically and sets the required n8n environment variables. The workflow stays in ACTIVE mode, listening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flow: User sends a message in Telegram → Telegram servers receive it → Cloudflare Tunnel forwards the HTTPS webhook to local n8n → n8n validates and calls QRServer API → QR image is sent back through the same chain. All HTTPS is handled by Cloudflare, so Telegram is happy.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technologies work together: n8n orchestrates the workflow, Telegram provides the chat interface, Cloudflare Tunnel handles HTTPS, QRServer generates the codes, and Python ties it all together with automation.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nodes: Telegram Trigger listens, IF node validates the URL is well-formed, HTTP Request generates the QR with styled parameters, and Telegram Send Photo delivers the image. Simple but effective.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 accepts any valid URL starting with http://, https://, or ftp://. Everything else — plain text, IP addresses, malformed input — gets rejected with a clear error message. This prevents wasteful API calls.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get a clean 350x350 QR code in custom blue with proper quiet zone margins. Invalid input gets a friendly but clear error. Response time is typically under 2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key benefits: completely free, always-on HTTPS, one-command startup, continuous listening without babysitting, and professional-looking QR codes with custom styling.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considerations: HTTPS is end-to-end via Cloudflare. URL validation prevents abuse. No data persistence. Bot token is encrypted in n8n's credential vault. The only risk is the PC being off or losing internet, which stops the bot.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Three example interactions showing valid URL, invalid input, and complex URL. Each responds within 2 seconds. The bot handles any properly formatted URL.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covers six areas: custom themes, QR history with database, 24/7 VPS deployment, UPI payment QR support, multi-command expansion, and an analytics dashboard. Priority is VPS deployment for always-on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The full source code and documentation is available on GitHub. Connect with me on LinkedIn or explore the repository for more n8n projects.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1097280"/>
          </a:xfrm>
          <a:prstGeom prst="rect">
            <a:avLst/>
          </a:prstGeom>
          <a:noFill/>
        </p:spPr>
        <p:txBody>
          <a:bodyPr wrap="square">
            <a:spAutoFit/>
          </a:bodyPr>
          <a:lstStyle/>
          <a:p>
            <a:pPr algn="ctr">
              <a:defRPr sz="4800" b="1">
                <a:solidFill>
                  <a:srgbClr val="F0F0F0"/>
                </a:solidFill>
                <a:latin typeface="Calibri"/>
              </a:defRPr>
            </a:pPr>
            <a:r>
              <a:t>QR Code Generator Bot</a:t>
            </a:r>
          </a:p>
        </p:txBody>
      </p:sp>
      <p:sp>
        <p:nvSpPr>
          <p:cNvPr id="4" name="Rectangle 3"/>
          <p:cNvSpPr/>
          <p:nvPr/>
        </p:nvSpPr>
        <p:spPr>
          <a:xfrm>
            <a:off x="4572000" y="3017520"/>
            <a:ext cx="301752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058400" cy="731520"/>
          </a:xfrm>
          <a:prstGeom prst="rect">
            <a:avLst/>
          </a:prstGeom>
          <a:noFill/>
        </p:spPr>
        <p:txBody>
          <a:bodyPr wrap="square">
            <a:spAutoFit/>
          </a:bodyPr>
          <a:lstStyle/>
          <a:p>
            <a:pPr algn="ctr">
              <a:defRPr sz="2200" b="0">
                <a:solidFill>
                  <a:srgbClr val="A0A0B0"/>
                </a:solidFill>
                <a:latin typeface="Calibri"/>
              </a:defRPr>
            </a:pPr>
            <a:r>
              <a:t>n8n + Telegram + Cloudflare Tunnel + QRServer API</a:t>
            </a:r>
          </a:p>
        </p:txBody>
      </p:sp>
      <p:sp>
        <p:nvSpPr>
          <p:cNvPr id="6" name="TextBox 5"/>
          <p:cNvSpPr txBox="1"/>
          <p:nvPr/>
        </p:nvSpPr>
        <p:spPr>
          <a:xfrm>
            <a:off x="914400" y="4572000"/>
            <a:ext cx="10058400" cy="548640"/>
          </a:xfrm>
          <a:prstGeom prst="rect">
            <a:avLst/>
          </a:prstGeom>
          <a:noFill/>
        </p:spPr>
        <p:txBody>
          <a:bodyPr wrap="square">
            <a:spAutoFit/>
          </a:bodyPr>
          <a:lstStyle/>
          <a:p>
            <a:pPr algn="ctr">
              <a:defRPr sz="1600" b="0">
                <a:solidFill>
                  <a:srgbClr val="707080"/>
                </a:solidFill>
                <a:latin typeface="Calibri"/>
              </a:defRPr>
            </a:pPr>
            <a:r>
              <a:t>Nitin Kumar  •  2026</a:t>
            </a:r>
          </a:p>
        </p:txBody>
      </p:sp>
      <p:sp>
        <p:nvSpPr>
          <p:cNvPr id="7" name="TextBox 6"/>
          <p:cNvSpPr txBox="1"/>
          <p:nvPr/>
        </p:nvSpPr>
        <p:spPr>
          <a:xfrm>
            <a:off x="914400" y="5120640"/>
            <a:ext cx="10058400" cy="457200"/>
          </a:xfrm>
          <a:prstGeom prst="rect">
            <a:avLst/>
          </a:prstGeom>
          <a:noFill/>
        </p:spPr>
        <p:txBody>
          <a:bodyPr wrap="square">
            <a:spAutoFit/>
          </a:bodyPr>
          <a:lstStyle/>
          <a:p>
            <a:pPr algn="ctr">
              <a:defRPr sz="1200" b="0">
                <a:solidFill>
                  <a:srgbClr val="707080"/>
                </a:solidFill>
                <a:latin typeface="Calibri"/>
              </a:defRPr>
            </a:pPr>
            <a:r>
              <a:t>https://github.com/nitinkumar30/n8n-projects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01</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The Problem</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Why existing solutions fall short</a:t>
            </a:r>
          </a:p>
        </p:txBody>
      </p:sp>
      <p:sp>
        <p:nvSpPr>
          <p:cNvPr id="7" name="TextBox 6"/>
          <p:cNvSpPr txBox="1"/>
          <p:nvPr/>
        </p:nvSpPr>
        <p:spPr>
          <a:xfrm>
            <a:off x="914400" y="3200400"/>
            <a:ext cx="10058400" cy="3200400"/>
          </a:xfrm>
          <a:prstGeom prst="rect">
            <a:avLst/>
          </a:prstGeom>
          <a:noFill/>
        </p:spPr>
        <p:txBody>
          <a:bodyPr wrap="square">
            <a:spAutoFit/>
          </a:bodyPr>
          <a:lstStyle/>
          <a:p>
            <a:pPr>
              <a:spcAft>
                <a:spcPts val="800"/>
              </a:spcAft>
              <a:defRPr sz="1800">
                <a:solidFill>
                  <a:srgbClr val="F0F0F0"/>
                </a:solidFill>
                <a:latin typeface="Calibri"/>
              </a:defRPr>
            </a:pPr>
            <a:r>
              <a:t>Telegram bots require HTTPS — localhost and HTTP are rejected</a:t>
            </a:r>
          </a:p>
          <a:p>
            <a:pPr>
              <a:spcAft>
                <a:spcPts val="800"/>
              </a:spcAft>
              <a:defRPr sz="1800">
                <a:solidFill>
                  <a:srgbClr val="F0F0F0"/>
                </a:solidFill>
                <a:latin typeface="Calibri"/>
              </a:defRPr>
            </a:pPr>
            <a:r>
              <a:t>ngrok provides HTTPS but URLs change every session</a:t>
            </a:r>
          </a:p>
          <a:p>
            <a:pPr>
              <a:spcAft>
                <a:spcPts val="800"/>
              </a:spcAft>
              <a:defRPr sz="1800">
                <a:solidFill>
                  <a:srgbClr val="F0F0F0"/>
                </a:solidFill>
                <a:latin typeface="Calibri"/>
              </a:defRPr>
            </a:pPr>
            <a:r>
              <a:t>Manual reconfiguration needed every time the tunnel restarts</a:t>
            </a:r>
          </a:p>
          <a:p>
            <a:pPr>
              <a:spcAft>
                <a:spcPts val="800"/>
              </a:spcAft>
              <a:defRPr sz="1800">
                <a:solidFill>
                  <a:srgbClr val="F0F0F0"/>
                </a:solidFill>
                <a:latin typeface="Calibri"/>
              </a:defRPr>
            </a:pPr>
            <a:r>
              <a:t>Test workflow mode stops listening after one execution</a:t>
            </a:r>
          </a:p>
          <a:p>
            <a:pPr>
              <a:spcAft>
                <a:spcPts val="800"/>
              </a:spcAft>
              <a:defRPr sz="1800">
                <a:solidFill>
                  <a:srgbClr val="F0F0F0"/>
                </a:solidFill>
                <a:latin typeface="Calibri"/>
              </a:defRPr>
            </a:pPr>
            <a:r>
              <a:t>No simple way to keep a bot running continuously on a local machine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02</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The Solution</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Cloudflare Tunnel + Python automation</a:t>
            </a:r>
          </a:p>
        </p:txBody>
      </p:sp>
      <p:sp>
        <p:nvSpPr>
          <p:cNvPr id="7" name="TextBox 6"/>
          <p:cNvSpPr txBox="1"/>
          <p:nvPr/>
        </p:nvSpPr>
        <p:spPr>
          <a:xfrm>
            <a:off x="914400" y="3200400"/>
            <a:ext cx="10058400" cy="3200400"/>
          </a:xfrm>
          <a:prstGeom prst="rect">
            <a:avLst/>
          </a:prstGeom>
          <a:noFill/>
        </p:spPr>
        <p:txBody>
          <a:bodyPr wrap="square">
            <a:spAutoFit/>
          </a:bodyPr>
          <a:lstStyle/>
          <a:p>
            <a:pPr>
              <a:spcAft>
                <a:spcPts val="800"/>
              </a:spcAft>
              <a:defRPr sz="1800">
                <a:solidFill>
                  <a:srgbClr val="F0F0F0"/>
                </a:solidFill>
                <a:latin typeface="Calibri"/>
              </a:defRPr>
            </a:pPr>
            <a:r>
              <a:t>Replace ngrok with Cloudflare Tunnel for stable, free HTTPS</a:t>
            </a:r>
          </a:p>
          <a:p>
            <a:pPr>
              <a:spcAft>
                <a:spcPts val="800"/>
              </a:spcAft>
              <a:defRPr sz="1800">
                <a:solidFill>
                  <a:srgbClr val="F0F0F0"/>
                </a:solidFill>
                <a:latin typeface="Calibri"/>
              </a:defRPr>
            </a:pPr>
            <a:r>
              <a:t>Python auto-start script manages tunnel, env vars, and n8n launch</a:t>
            </a:r>
          </a:p>
          <a:p>
            <a:pPr>
              <a:spcAft>
                <a:spcPts val="800"/>
              </a:spcAft>
              <a:defRPr sz="1800">
                <a:solidFill>
                  <a:srgbClr val="F0F0F0"/>
                </a:solidFill>
                <a:latin typeface="Calibri"/>
              </a:defRPr>
            </a:pPr>
            <a:r>
              <a:t>Workflow runs in ACTIVE mode for continuous listening</a:t>
            </a:r>
          </a:p>
          <a:p>
            <a:pPr>
              <a:spcAft>
                <a:spcPts val="800"/>
              </a:spcAft>
              <a:defRPr sz="1800">
                <a:solidFill>
                  <a:srgbClr val="F0F0F0"/>
                </a:solidFill>
                <a:latin typeface="Calibri"/>
              </a:defRPr>
            </a:pPr>
            <a:r>
              <a:t>URL validation prevents invalid requests from reaching QR API</a:t>
            </a:r>
          </a:p>
          <a:p>
            <a:pPr>
              <a:spcAft>
                <a:spcPts val="800"/>
              </a:spcAft>
              <a:defRPr sz="1800">
                <a:solidFill>
                  <a:srgbClr val="F0F0F0"/>
                </a:solidFill>
                <a:latin typeface="Calibri"/>
              </a:defRPr>
            </a:pPr>
            <a:r>
              <a:t>Clean, styled QR codes with configurable size and colors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03</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Architecture Overview</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End-to-end data flow</a:t>
            </a:r>
          </a:p>
        </p:txBody>
      </p:sp>
      <p:sp>
        <p:nvSpPr>
          <p:cNvPr id="7" name="Rectangle 6"/>
          <p:cNvSpPr/>
          <p:nvPr/>
        </p:nvSpPr>
        <p:spPr>
          <a:xfrm>
            <a:off x="731520" y="2926080"/>
            <a:ext cx="164592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200400"/>
            <a:ext cx="1645920" cy="1097280"/>
          </a:xfrm>
          <a:prstGeom prst="rect">
            <a:avLst/>
          </a:prstGeom>
          <a:noFill/>
        </p:spPr>
        <p:txBody>
          <a:bodyPr wrap="square">
            <a:spAutoFit/>
          </a:bodyPr>
          <a:lstStyle/>
          <a:p>
            <a:pPr algn="ctr">
              <a:defRPr sz="1400" b="1">
                <a:solidFill>
                  <a:srgbClr val="F0F0F0"/>
                </a:solidFill>
                <a:latin typeface="Calibri"/>
              </a:defRPr>
            </a:pPr>
            <a:r>
              <a:t>Telegram</a:t>
            </a:r>
            <a:br/>
            <a:r>
              <a:t>User</a:t>
            </a:r>
          </a:p>
        </p:txBody>
      </p:sp>
      <p:sp>
        <p:nvSpPr>
          <p:cNvPr id="9" name="Rectangle 8"/>
          <p:cNvSpPr/>
          <p:nvPr/>
        </p:nvSpPr>
        <p:spPr>
          <a:xfrm>
            <a:off x="2743200" y="2926080"/>
            <a:ext cx="1645920" cy="1280160"/>
          </a:xfrm>
          <a:prstGeom prst="rect">
            <a:avLst/>
          </a:prstGeom>
          <a:solidFill>
            <a:srgbClr val="BB86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3200400"/>
            <a:ext cx="1645920" cy="1097280"/>
          </a:xfrm>
          <a:prstGeom prst="rect">
            <a:avLst/>
          </a:prstGeom>
          <a:noFill/>
        </p:spPr>
        <p:txBody>
          <a:bodyPr wrap="square">
            <a:spAutoFit/>
          </a:bodyPr>
          <a:lstStyle/>
          <a:p>
            <a:pPr algn="ctr">
              <a:defRPr sz="1400" b="1">
                <a:solidFill>
                  <a:srgbClr val="F0F0F0"/>
                </a:solidFill>
                <a:latin typeface="Calibri"/>
              </a:defRPr>
            </a:pPr>
            <a:r>
              <a:t>Telegram</a:t>
            </a:r>
            <a:br/>
            <a:r>
              <a:t>Servers</a:t>
            </a:r>
          </a:p>
        </p:txBody>
      </p:sp>
      <p:sp>
        <p:nvSpPr>
          <p:cNvPr id="11" name="Rectangle 10"/>
          <p:cNvSpPr/>
          <p:nvPr/>
        </p:nvSpPr>
        <p:spPr>
          <a:xfrm>
            <a:off x="4754880" y="2926080"/>
            <a:ext cx="1645920" cy="128016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200400"/>
            <a:ext cx="1645920" cy="1097280"/>
          </a:xfrm>
          <a:prstGeom prst="rect">
            <a:avLst/>
          </a:prstGeom>
          <a:noFill/>
        </p:spPr>
        <p:txBody>
          <a:bodyPr wrap="square">
            <a:spAutoFit/>
          </a:bodyPr>
          <a:lstStyle/>
          <a:p>
            <a:pPr algn="ctr">
              <a:defRPr sz="1400" b="1">
                <a:solidFill>
                  <a:srgbClr val="F0F0F0"/>
                </a:solidFill>
                <a:latin typeface="Calibri"/>
              </a:defRPr>
            </a:pPr>
            <a:r>
              <a:t>Cloudflare</a:t>
            </a:r>
            <a:br/>
            <a:r>
              <a:t>Tunnel</a:t>
            </a:r>
          </a:p>
        </p:txBody>
      </p:sp>
      <p:sp>
        <p:nvSpPr>
          <p:cNvPr id="13" name="Rectangle 12"/>
          <p:cNvSpPr/>
          <p:nvPr/>
        </p:nvSpPr>
        <p:spPr>
          <a:xfrm>
            <a:off x="6766560" y="2926080"/>
            <a:ext cx="1645920" cy="128016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3200400"/>
            <a:ext cx="1645920" cy="1097280"/>
          </a:xfrm>
          <a:prstGeom prst="rect">
            <a:avLst/>
          </a:prstGeom>
          <a:noFill/>
        </p:spPr>
        <p:txBody>
          <a:bodyPr wrap="square">
            <a:spAutoFit/>
          </a:bodyPr>
          <a:lstStyle/>
          <a:p>
            <a:pPr algn="ctr">
              <a:defRPr sz="1400" b="1">
                <a:solidFill>
                  <a:srgbClr val="F0F0F0"/>
                </a:solidFill>
                <a:latin typeface="Calibri"/>
              </a:defRPr>
            </a:pPr>
            <a:r>
              <a:t>n8n</a:t>
            </a:r>
            <a:br/>
            <a:r>
              <a:t>Webhook</a:t>
            </a:r>
          </a:p>
        </p:txBody>
      </p:sp>
      <p:sp>
        <p:nvSpPr>
          <p:cNvPr id="15" name="Rectangle 14"/>
          <p:cNvSpPr/>
          <p:nvPr/>
        </p:nvSpPr>
        <p:spPr>
          <a:xfrm>
            <a:off x="8778240" y="2926080"/>
            <a:ext cx="1645920" cy="128016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3200400"/>
            <a:ext cx="1645920" cy="1097280"/>
          </a:xfrm>
          <a:prstGeom prst="rect">
            <a:avLst/>
          </a:prstGeom>
          <a:noFill/>
        </p:spPr>
        <p:txBody>
          <a:bodyPr wrap="square">
            <a:spAutoFit/>
          </a:bodyPr>
          <a:lstStyle/>
          <a:p>
            <a:pPr algn="ctr">
              <a:defRPr sz="1400" b="1">
                <a:solidFill>
                  <a:srgbClr val="F0F0F0"/>
                </a:solidFill>
                <a:latin typeface="Calibri"/>
              </a:defRPr>
            </a:pPr>
            <a:r>
              <a:t>QRServer</a:t>
            </a:r>
            <a:br/>
            <a:r>
              <a:t>API</a:t>
            </a:r>
          </a:p>
        </p:txBody>
      </p:sp>
      <p:sp>
        <p:nvSpPr>
          <p:cNvPr id="17" name="TextBox 16"/>
          <p:cNvSpPr txBox="1"/>
          <p:nvPr/>
        </p:nvSpPr>
        <p:spPr>
          <a:xfrm>
            <a:off x="731520" y="4754880"/>
            <a:ext cx="10058400" cy="914400"/>
          </a:xfrm>
          <a:prstGeom prst="rect">
            <a:avLst/>
          </a:prstGeom>
          <a:noFill/>
        </p:spPr>
        <p:txBody>
          <a:bodyPr wrap="square">
            <a:spAutoFit/>
          </a:bodyPr>
          <a:lstStyle/>
          <a:p>
            <a:pPr algn="ctr">
              <a:defRPr sz="1300" b="0">
                <a:solidFill>
                  <a:srgbClr val="A0A0B0"/>
                </a:solidFill>
                <a:latin typeface="Calibri"/>
              </a:defRPr>
            </a:pPr>
            <a:r>
              <a:t>Telegram User → Telegram Servers → Cloudflare Tunnel → n8n Webhook → QRServer API → Response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04</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Technology Stack</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Tools and services powering the bot</a:t>
            </a:r>
          </a:p>
        </p:txBody>
      </p:sp>
      <p:sp>
        <p:nvSpPr>
          <p:cNvPr id="7" name="TextBox 6"/>
          <p:cNvSpPr txBox="1"/>
          <p:nvPr/>
        </p:nvSpPr>
        <p:spPr>
          <a:xfrm>
            <a:off x="1097280" y="3108960"/>
            <a:ext cx="2286000" cy="457200"/>
          </a:xfrm>
          <a:prstGeom prst="rect">
            <a:avLst/>
          </a:prstGeom>
          <a:noFill/>
        </p:spPr>
        <p:txBody>
          <a:bodyPr wrap="square">
            <a:spAutoFit/>
          </a:bodyPr>
          <a:lstStyle/>
          <a:p>
            <a:pPr algn="l">
              <a:defRPr sz="1800" b="1">
                <a:solidFill>
                  <a:srgbClr val="00B4D8"/>
                </a:solidFill>
                <a:latin typeface="Calibri"/>
              </a:defRPr>
            </a:pPr>
            <a:r>
              <a:t>n8n</a:t>
            </a:r>
          </a:p>
        </p:txBody>
      </p:sp>
      <p:sp>
        <p:nvSpPr>
          <p:cNvPr id="8" name="TextBox 7"/>
          <p:cNvSpPr txBox="1"/>
          <p:nvPr/>
        </p:nvSpPr>
        <p:spPr>
          <a:xfrm>
            <a:off x="3474720" y="3108960"/>
            <a:ext cx="7772400" cy="457200"/>
          </a:xfrm>
          <a:prstGeom prst="rect">
            <a:avLst/>
          </a:prstGeom>
          <a:noFill/>
        </p:spPr>
        <p:txBody>
          <a:bodyPr wrap="square">
            <a:spAutoFit/>
          </a:bodyPr>
          <a:lstStyle/>
          <a:p>
            <a:pPr algn="l">
              <a:defRPr sz="1500" b="0">
                <a:solidFill>
                  <a:srgbClr val="A0A0B0"/>
                </a:solidFill>
                <a:latin typeface="Calibri"/>
              </a:defRPr>
            </a:pPr>
            <a:r>
              <a:t>Workflow automation engine with visual builder. Handles webhooks, logic, and API calls.</a:t>
            </a:r>
          </a:p>
        </p:txBody>
      </p:sp>
      <p:sp>
        <p:nvSpPr>
          <p:cNvPr id="9" name="TextBox 8"/>
          <p:cNvSpPr txBox="1"/>
          <p:nvPr/>
        </p:nvSpPr>
        <p:spPr>
          <a:xfrm>
            <a:off x="1097280" y="3749040"/>
            <a:ext cx="2286000" cy="457200"/>
          </a:xfrm>
          <a:prstGeom prst="rect">
            <a:avLst/>
          </a:prstGeom>
          <a:noFill/>
        </p:spPr>
        <p:txBody>
          <a:bodyPr wrap="square">
            <a:spAutoFit/>
          </a:bodyPr>
          <a:lstStyle/>
          <a:p>
            <a:pPr algn="l">
              <a:defRPr sz="1800" b="1">
                <a:solidFill>
                  <a:srgbClr val="00B4D8"/>
                </a:solidFill>
                <a:latin typeface="Calibri"/>
              </a:defRPr>
            </a:pPr>
            <a:r>
              <a:t>Telegram Bot API</a:t>
            </a:r>
          </a:p>
        </p:txBody>
      </p:sp>
      <p:sp>
        <p:nvSpPr>
          <p:cNvPr id="10" name="TextBox 9"/>
          <p:cNvSpPr txBox="1"/>
          <p:nvPr/>
        </p:nvSpPr>
        <p:spPr>
          <a:xfrm>
            <a:off x="3474720" y="3749040"/>
            <a:ext cx="7772400" cy="457200"/>
          </a:xfrm>
          <a:prstGeom prst="rect">
            <a:avLst/>
          </a:prstGeom>
          <a:noFill/>
        </p:spPr>
        <p:txBody>
          <a:bodyPr wrap="square">
            <a:spAutoFit/>
          </a:bodyPr>
          <a:lstStyle/>
          <a:p>
            <a:pPr algn="l">
              <a:defRPr sz="1500" b="0">
                <a:solidFill>
                  <a:srgbClr val="A0A0B0"/>
                </a:solidFill>
                <a:latin typeface="Calibri"/>
              </a:defRPr>
            </a:pPr>
            <a:r>
              <a:t>Messaging platform. Receive messages and send QR images via bot token.</a:t>
            </a:r>
          </a:p>
        </p:txBody>
      </p:sp>
      <p:sp>
        <p:nvSpPr>
          <p:cNvPr id="11" name="TextBox 10"/>
          <p:cNvSpPr txBox="1"/>
          <p:nvPr/>
        </p:nvSpPr>
        <p:spPr>
          <a:xfrm>
            <a:off x="1097280" y="4389120"/>
            <a:ext cx="2286000" cy="457200"/>
          </a:xfrm>
          <a:prstGeom prst="rect">
            <a:avLst/>
          </a:prstGeom>
          <a:noFill/>
        </p:spPr>
        <p:txBody>
          <a:bodyPr wrap="square">
            <a:spAutoFit/>
          </a:bodyPr>
          <a:lstStyle/>
          <a:p>
            <a:pPr algn="l">
              <a:defRPr sz="1800" b="1">
                <a:solidFill>
                  <a:srgbClr val="00B4D8"/>
                </a:solidFill>
                <a:latin typeface="Calibri"/>
              </a:defRPr>
            </a:pPr>
            <a:r>
              <a:t>Cloudflare Tunnel</a:t>
            </a:r>
          </a:p>
        </p:txBody>
      </p:sp>
      <p:sp>
        <p:nvSpPr>
          <p:cNvPr id="12" name="TextBox 11"/>
          <p:cNvSpPr txBox="1"/>
          <p:nvPr/>
        </p:nvSpPr>
        <p:spPr>
          <a:xfrm>
            <a:off x="3474720" y="4389120"/>
            <a:ext cx="7772400" cy="457200"/>
          </a:xfrm>
          <a:prstGeom prst="rect">
            <a:avLst/>
          </a:prstGeom>
          <a:noFill/>
        </p:spPr>
        <p:txBody>
          <a:bodyPr wrap="square">
            <a:spAutoFit/>
          </a:bodyPr>
          <a:lstStyle/>
          <a:p>
            <a:pPr algn="l">
              <a:defRPr sz="1500" b="0">
                <a:solidFill>
                  <a:srgbClr val="A0A0B0"/>
                </a:solidFill>
                <a:latin typeface="Calibri"/>
              </a:defRPr>
            </a:pPr>
            <a:r>
              <a:t>Free HTTPS tunnel. Exposes localhost:5678 as a public HTTPS URL.</a:t>
            </a:r>
          </a:p>
        </p:txBody>
      </p:sp>
      <p:sp>
        <p:nvSpPr>
          <p:cNvPr id="13" name="TextBox 12"/>
          <p:cNvSpPr txBox="1"/>
          <p:nvPr/>
        </p:nvSpPr>
        <p:spPr>
          <a:xfrm>
            <a:off x="1097280" y="5029200"/>
            <a:ext cx="2286000" cy="457200"/>
          </a:xfrm>
          <a:prstGeom prst="rect">
            <a:avLst/>
          </a:prstGeom>
          <a:noFill/>
        </p:spPr>
        <p:txBody>
          <a:bodyPr wrap="square">
            <a:spAutoFit/>
          </a:bodyPr>
          <a:lstStyle/>
          <a:p>
            <a:pPr algn="l">
              <a:defRPr sz="1800" b="1">
                <a:solidFill>
                  <a:srgbClr val="00B4D8"/>
                </a:solidFill>
                <a:latin typeface="Calibri"/>
              </a:defRPr>
            </a:pPr>
            <a:r>
              <a:t>QRServer API</a:t>
            </a:r>
          </a:p>
        </p:txBody>
      </p:sp>
      <p:sp>
        <p:nvSpPr>
          <p:cNvPr id="14" name="TextBox 13"/>
          <p:cNvSpPr txBox="1"/>
          <p:nvPr/>
        </p:nvSpPr>
        <p:spPr>
          <a:xfrm>
            <a:off x="3474720" y="5029200"/>
            <a:ext cx="7772400" cy="457200"/>
          </a:xfrm>
          <a:prstGeom prst="rect">
            <a:avLst/>
          </a:prstGeom>
          <a:noFill/>
        </p:spPr>
        <p:txBody>
          <a:bodyPr wrap="square">
            <a:spAutoFit/>
          </a:bodyPr>
          <a:lstStyle/>
          <a:p>
            <a:pPr algn="l">
              <a:defRPr sz="1500" b="0">
                <a:solidFill>
                  <a:srgbClr val="A0A0B0"/>
                </a:solidFill>
                <a:latin typeface="Calibri"/>
              </a:defRPr>
            </a:pPr>
            <a:r>
              <a:t>QR code generation. Styled outputs with configurable size, color, and ECC.</a:t>
            </a:r>
          </a:p>
        </p:txBody>
      </p:sp>
      <p:sp>
        <p:nvSpPr>
          <p:cNvPr id="15" name="TextBox 14"/>
          <p:cNvSpPr txBox="1"/>
          <p:nvPr/>
        </p:nvSpPr>
        <p:spPr>
          <a:xfrm>
            <a:off x="1097280" y="5669280"/>
            <a:ext cx="2286000" cy="457200"/>
          </a:xfrm>
          <a:prstGeom prst="rect">
            <a:avLst/>
          </a:prstGeom>
          <a:noFill/>
        </p:spPr>
        <p:txBody>
          <a:bodyPr wrap="square">
            <a:spAutoFit/>
          </a:bodyPr>
          <a:lstStyle/>
          <a:p>
            <a:pPr algn="l">
              <a:defRPr sz="1800" b="1">
                <a:solidFill>
                  <a:srgbClr val="00B4D8"/>
                </a:solidFill>
                <a:latin typeface="Calibri"/>
              </a:defRPr>
            </a:pPr>
            <a:r>
              <a:t>Python</a:t>
            </a:r>
          </a:p>
        </p:txBody>
      </p:sp>
      <p:sp>
        <p:nvSpPr>
          <p:cNvPr id="16" name="TextBox 15"/>
          <p:cNvSpPr txBox="1"/>
          <p:nvPr/>
        </p:nvSpPr>
        <p:spPr>
          <a:xfrm>
            <a:off x="3474720" y="5669280"/>
            <a:ext cx="7772400" cy="457200"/>
          </a:xfrm>
          <a:prstGeom prst="rect">
            <a:avLst/>
          </a:prstGeom>
          <a:noFill/>
        </p:spPr>
        <p:txBody>
          <a:bodyPr wrap="square">
            <a:spAutoFit/>
          </a:bodyPr>
          <a:lstStyle/>
          <a:p>
            <a:pPr algn="l">
              <a:defRPr sz="1500" b="0">
                <a:solidFill>
                  <a:srgbClr val="A0A0B0"/>
                </a:solidFill>
                <a:latin typeface="Calibri"/>
              </a:defRPr>
            </a:pPr>
            <a:r>
              <a:t>Auto-start script. Manages tunnel lifecycle, env vars, and n8n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05</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Workflow Node Map</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4 nodes, one clean flow</a:t>
            </a:r>
          </a:p>
        </p:txBody>
      </p:sp>
      <p:sp>
        <p:nvSpPr>
          <p:cNvPr id="7" name="Rectangle 6"/>
          <p:cNvSpPr/>
          <p:nvPr/>
        </p:nvSpPr>
        <p:spPr>
          <a:xfrm>
            <a:off x="731520" y="3017520"/>
            <a:ext cx="10515600" cy="7315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063240"/>
            <a:ext cx="3200400" cy="365760"/>
          </a:xfrm>
          <a:prstGeom prst="rect">
            <a:avLst/>
          </a:prstGeom>
          <a:noFill/>
        </p:spPr>
        <p:txBody>
          <a:bodyPr wrap="square">
            <a:spAutoFit/>
          </a:bodyPr>
          <a:lstStyle/>
          <a:p>
            <a:pPr algn="l">
              <a:defRPr sz="1500" b="1">
                <a:solidFill>
                  <a:srgbClr val="00B4D8"/>
                </a:solidFill>
                <a:latin typeface="Calibri"/>
              </a:defRPr>
            </a:pPr>
            <a:r>
              <a:t>1. Telegram Trigger</a:t>
            </a:r>
          </a:p>
        </p:txBody>
      </p:sp>
      <p:sp>
        <p:nvSpPr>
          <p:cNvPr id="9" name="TextBox 8"/>
          <p:cNvSpPr txBox="1"/>
          <p:nvPr/>
        </p:nvSpPr>
        <p:spPr>
          <a:xfrm>
            <a:off x="4206240" y="3063240"/>
            <a:ext cx="6858000" cy="640080"/>
          </a:xfrm>
          <a:prstGeom prst="rect">
            <a:avLst/>
          </a:prstGeom>
          <a:noFill/>
        </p:spPr>
        <p:txBody>
          <a:bodyPr wrap="square">
            <a:spAutoFit/>
          </a:bodyPr>
          <a:lstStyle/>
          <a:p>
            <a:pPr algn="l">
              <a:defRPr sz="1300" b="0">
                <a:solidFill>
                  <a:srgbClr val="A0A0B0"/>
                </a:solidFill>
                <a:latin typeface="Calibri"/>
              </a:defRPr>
            </a:pPr>
            <a:r>
              <a:t>Listens for incoming messages via webhook. Configured for 'message' events with bot token credential.</a:t>
            </a:r>
          </a:p>
        </p:txBody>
      </p:sp>
      <p:sp>
        <p:nvSpPr>
          <p:cNvPr id="10" name="Rectangle 9"/>
          <p:cNvSpPr/>
          <p:nvPr/>
        </p:nvSpPr>
        <p:spPr>
          <a:xfrm>
            <a:off x="731520" y="3886200"/>
            <a:ext cx="10515600" cy="7315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931920"/>
            <a:ext cx="3200400" cy="365760"/>
          </a:xfrm>
          <a:prstGeom prst="rect">
            <a:avLst/>
          </a:prstGeom>
          <a:noFill/>
        </p:spPr>
        <p:txBody>
          <a:bodyPr wrap="square">
            <a:spAutoFit/>
          </a:bodyPr>
          <a:lstStyle/>
          <a:p>
            <a:pPr algn="l">
              <a:defRPr sz="1500" b="1">
                <a:solidFill>
                  <a:srgbClr val="00B4D8"/>
                </a:solidFill>
                <a:latin typeface="Calibri"/>
              </a:defRPr>
            </a:pPr>
            <a:r>
              <a:t>2. IF Node (Validation)</a:t>
            </a:r>
          </a:p>
        </p:txBody>
      </p:sp>
      <p:sp>
        <p:nvSpPr>
          <p:cNvPr id="12" name="TextBox 11"/>
          <p:cNvSpPr txBox="1"/>
          <p:nvPr/>
        </p:nvSpPr>
        <p:spPr>
          <a:xfrm>
            <a:off x="4206240" y="3931920"/>
            <a:ext cx="6858000" cy="640080"/>
          </a:xfrm>
          <a:prstGeom prst="rect">
            <a:avLst/>
          </a:prstGeom>
          <a:noFill/>
        </p:spPr>
        <p:txBody>
          <a:bodyPr wrap="square">
            <a:spAutoFit/>
          </a:bodyPr>
          <a:lstStyle/>
          <a:p>
            <a:pPr algn="l">
              <a:defRPr sz="1300" b="0">
                <a:solidFill>
                  <a:srgbClr val="A0A0B0"/>
                </a:solidFill>
                <a:latin typeface="Calibri"/>
              </a:defRPr>
            </a:pPr>
            <a:r>
              <a:t>Validates URL using regex ^(https?:\/\/)[^\s]+$. Blocks invalid input before it reaches the QR API.</a:t>
            </a:r>
          </a:p>
        </p:txBody>
      </p:sp>
      <p:sp>
        <p:nvSpPr>
          <p:cNvPr id="13" name="Rectangle 12"/>
          <p:cNvSpPr/>
          <p:nvPr/>
        </p:nvSpPr>
        <p:spPr>
          <a:xfrm>
            <a:off x="731520" y="4754880"/>
            <a:ext cx="10515600" cy="7315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800600"/>
            <a:ext cx="3200400" cy="365760"/>
          </a:xfrm>
          <a:prstGeom prst="rect">
            <a:avLst/>
          </a:prstGeom>
          <a:noFill/>
        </p:spPr>
        <p:txBody>
          <a:bodyPr wrap="square">
            <a:spAutoFit/>
          </a:bodyPr>
          <a:lstStyle/>
          <a:p>
            <a:pPr algn="l">
              <a:defRPr sz="1500" b="1">
                <a:solidFill>
                  <a:srgbClr val="00B4D8"/>
                </a:solidFill>
                <a:latin typeface="Calibri"/>
              </a:defRPr>
            </a:pPr>
            <a:r>
              <a:t>3. HTTP Request</a:t>
            </a:r>
          </a:p>
        </p:txBody>
      </p:sp>
      <p:sp>
        <p:nvSpPr>
          <p:cNvPr id="15" name="TextBox 14"/>
          <p:cNvSpPr txBox="1"/>
          <p:nvPr/>
        </p:nvSpPr>
        <p:spPr>
          <a:xfrm>
            <a:off x="4206240" y="4800600"/>
            <a:ext cx="6858000" cy="640080"/>
          </a:xfrm>
          <a:prstGeom prst="rect">
            <a:avLst/>
          </a:prstGeom>
          <a:noFill/>
        </p:spPr>
        <p:txBody>
          <a:bodyPr wrap="square">
            <a:spAutoFit/>
          </a:bodyPr>
          <a:lstStyle/>
          <a:p>
            <a:pPr algn="l">
              <a:defRPr sz="1300" b="0">
                <a:solidFill>
                  <a:srgbClr val="A0A0B0"/>
                </a:solidFill>
                <a:latin typeface="Calibri"/>
              </a:defRPr>
            </a:pPr>
            <a:r>
              <a:t>Calls api.qrserver.com with styled parameters: size=350x350, ECC=M, custom color, white background, 4px quiet zone.</a:t>
            </a:r>
          </a:p>
        </p:txBody>
      </p:sp>
      <p:sp>
        <p:nvSpPr>
          <p:cNvPr id="16" name="Rectangle 15"/>
          <p:cNvSpPr/>
          <p:nvPr/>
        </p:nvSpPr>
        <p:spPr>
          <a:xfrm>
            <a:off x="731520" y="5623560"/>
            <a:ext cx="10515600" cy="7315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669280"/>
            <a:ext cx="3200400" cy="365760"/>
          </a:xfrm>
          <a:prstGeom prst="rect">
            <a:avLst/>
          </a:prstGeom>
          <a:noFill/>
        </p:spPr>
        <p:txBody>
          <a:bodyPr wrap="square">
            <a:spAutoFit/>
          </a:bodyPr>
          <a:lstStyle/>
          <a:p>
            <a:pPr algn="l">
              <a:defRPr sz="1500" b="1">
                <a:solidFill>
                  <a:srgbClr val="00B4D8"/>
                </a:solidFill>
                <a:latin typeface="Calibri"/>
              </a:defRPr>
            </a:pPr>
            <a:r>
              <a:t>4. Telegram Send Photo</a:t>
            </a:r>
          </a:p>
        </p:txBody>
      </p:sp>
      <p:sp>
        <p:nvSpPr>
          <p:cNvPr id="18" name="TextBox 17"/>
          <p:cNvSpPr txBox="1"/>
          <p:nvPr/>
        </p:nvSpPr>
        <p:spPr>
          <a:xfrm>
            <a:off x="4206240" y="5669280"/>
            <a:ext cx="6858000" cy="640080"/>
          </a:xfrm>
          <a:prstGeom prst="rect">
            <a:avLst/>
          </a:prstGeom>
          <a:noFill/>
        </p:spPr>
        <p:txBody>
          <a:bodyPr wrap="square">
            <a:spAutoFit/>
          </a:bodyPr>
          <a:lstStyle/>
          <a:p>
            <a:pPr algn="l">
              <a:defRPr sz="1300" b="0">
                <a:solidFill>
                  <a:srgbClr val="A0A0B0"/>
                </a:solidFill>
                <a:latin typeface="Calibri"/>
              </a:defRPr>
            </a:pPr>
            <a:r>
              <a:t>Sends the QR image back to the user with caption. Uses binary property 'data' from HTTP response.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06</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Inputs &amp; Validation</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What users send, what the bot accepts</a:t>
            </a:r>
          </a:p>
        </p:txBody>
      </p:sp>
      <p:sp>
        <p:nvSpPr>
          <p:cNvPr id="7" name="TextBox 6"/>
          <p:cNvSpPr txBox="1"/>
          <p:nvPr/>
        </p:nvSpPr>
        <p:spPr>
          <a:xfrm>
            <a:off x="914400" y="3200400"/>
            <a:ext cx="4572000" cy="457200"/>
          </a:xfrm>
          <a:prstGeom prst="rect">
            <a:avLst/>
          </a:prstGeom>
          <a:noFill/>
        </p:spPr>
        <p:txBody>
          <a:bodyPr wrap="square">
            <a:spAutoFit/>
          </a:bodyPr>
          <a:lstStyle/>
          <a:p>
            <a:pPr algn="l">
              <a:defRPr sz="2000" b="1">
                <a:solidFill>
                  <a:srgbClr val="00E696"/>
                </a:solidFill>
                <a:latin typeface="Calibri"/>
              </a:defRPr>
            </a:pPr>
            <a:r>
              <a:t>✅ Accepted</a:t>
            </a:r>
          </a:p>
        </p:txBody>
      </p:sp>
      <p:sp>
        <p:nvSpPr>
          <p:cNvPr id="8" name="TextBox 7"/>
          <p:cNvSpPr txBox="1"/>
          <p:nvPr/>
        </p:nvSpPr>
        <p:spPr>
          <a:xfrm>
            <a:off x="914400" y="3749039"/>
            <a:ext cx="4572000" cy="2286000"/>
          </a:xfrm>
          <a:prstGeom prst="rect">
            <a:avLst/>
          </a:prstGeom>
          <a:noFill/>
        </p:spPr>
        <p:txBody>
          <a:bodyPr wrap="square">
            <a:spAutoFit/>
          </a:bodyPr>
          <a:lstStyle/>
          <a:p>
            <a:pPr>
              <a:spcAft>
                <a:spcPts val="800"/>
              </a:spcAft>
              <a:defRPr sz="1600">
                <a:solidFill>
                  <a:srgbClr val="F0F0F0"/>
                </a:solidFill>
                <a:latin typeface="Calibri"/>
              </a:defRPr>
            </a:pPr>
            <a:r>
              <a:t>https://github.com</a:t>
            </a:r>
          </a:p>
          <a:p>
            <a:pPr>
              <a:spcAft>
                <a:spcPts val="800"/>
              </a:spcAft>
              <a:defRPr sz="1600">
                <a:solidFill>
                  <a:srgbClr val="F0F0F0"/>
                </a:solidFill>
                <a:latin typeface="Calibri"/>
              </a:defRPr>
            </a:pPr>
            <a:r>
              <a:t>http://example.com/page?q=1</a:t>
            </a:r>
          </a:p>
          <a:p>
            <a:pPr>
              <a:spcAft>
                <a:spcPts val="800"/>
              </a:spcAft>
              <a:defRPr sz="1600">
                <a:solidFill>
                  <a:srgbClr val="F0F0F0"/>
                </a:solidFill>
                <a:latin typeface="Calibri"/>
              </a:defRPr>
            </a:pPr>
            <a:r>
              <a:t>https://sub.domain.org/path/file.html</a:t>
            </a:r>
          </a:p>
          <a:p>
            <a:pPr>
              <a:spcAft>
                <a:spcPts val="800"/>
              </a:spcAft>
              <a:defRPr sz="1600">
                <a:solidFill>
                  <a:srgbClr val="F0F0F0"/>
                </a:solidFill>
                <a:latin typeface="Calibri"/>
              </a:defRPr>
            </a:pPr>
            <a:r>
              <a:t>ftp://files.server.com (also accepted)</a:t>
            </a:r>
          </a:p>
        </p:txBody>
      </p:sp>
      <p:sp>
        <p:nvSpPr>
          <p:cNvPr id="9" name="TextBox 8"/>
          <p:cNvSpPr txBox="1"/>
          <p:nvPr/>
        </p:nvSpPr>
        <p:spPr>
          <a:xfrm>
            <a:off x="5943600" y="3200400"/>
            <a:ext cx="4572000" cy="457200"/>
          </a:xfrm>
          <a:prstGeom prst="rect">
            <a:avLst/>
          </a:prstGeom>
          <a:noFill/>
        </p:spPr>
        <p:txBody>
          <a:bodyPr wrap="square">
            <a:spAutoFit/>
          </a:bodyPr>
          <a:lstStyle/>
          <a:p>
            <a:pPr algn="l">
              <a:defRPr sz="2000" b="1">
                <a:solidFill>
                  <a:srgbClr val="FF5555"/>
                </a:solidFill>
                <a:latin typeface="Calibri"/>
              </a:defRPr>
            </a:pPr>
            <a:r>
              <a:t>❌ Rejected</a:t>
            </a:r>
          </a:p>
        </p:txBody>
      </p:sp>
      <p:sp>
        <p:nvSpPr>
          <p:cNvPr id="10" name="TextBox 9"/>
          <p:cNvSpPr txBox="1"/>
          <p:nvPr/>
        </p:nvSpPr>
        <p:spPr>
          <a:xfrm>
            <a:off x="5943600" y="3749039"/>
            <a:ext cx="4572000" cy="2286000"/>
          </a:xfrm>
          <a:prstGeom prst="rect">
            <a:avLst/>
          </a:prstGeom>
          <a:noFill/>
        </p:spPr>
        <p:txBody>
          <a:bodyPr wrap="square">
            <a:spAutoFit/>
          </a:bodyPr>
          <a:lstStyle/>
          <a:p>
            <a:pPr>
              <a:spcAft>
                <a:spcPts val="800"/>
              </a:spcAft>
              <a:defRPr sz="1600">
                <a:solidFill>
                  <a:srgbClr val="F0F0F0"/>
                </a:solidFill>
                <a:latin typeface="Calibri"/>
              </a:defRPr>
            </a:pPr>
            <a:r>
              <a:t>hello (plain text)</a:t>
            </a:r>
          </a:p>
          <a:p>
            <a:pPr>
              <a:spcAft>
                <a:spcPts val="800"/>
              </a:spcAft>
              <a:defRPr sz="1600">
                <a:solidFill>
                  <a:srgbClr val="F0F0F0"/>
                </a:solidFill>
                <a:latin typeface="Calibri"/>
              </a:defRPr>
            </a:pPr>
            <a:r>
              <a:t>192.168.1.1 (not a URL)</a:t>
            </a:r>
          </a:p>
          <a:p>
            <a:pPr>
              <a:spcAft>
                <a:spcPts val="800"/>
              </a:spcAft>
              <a:defRPr sz="1600">
                <a:solidFill>
                  <a:srgbClr val="F0F0F0"/>
                </a:solidFill>
                <a:latin typeface="Calibri"/>
              </a:defRPr>
            </a:pPr>
            <a:r>
              <a:t>  https://example.com (leading space)</a:t>
            </a:r>
          </a:p>
          <a:p>
            <a:pPr>
              <a:spcAft>
                <a:spcPts val="800"/>
              </a:spcAft>
              <a:defRPr sz="1600">
                <a:solidFill>
                  <a:srgbClr val="F0F0F0"/>
                </a:solidFill>
                <a:latin typeface="Calibri"/>
              </a:defRPr>
            </a:pPr>
            <a:r>
              <a:t>just random words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07</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Outputs &amp; User Experience</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What the user receives</a:t>
            </a:r>
          </a:p>
        </p:txBody>
      </p:sp>
      <p:sp>
        <p:nvSpPr>
          <p:cNvPr id="7" name="TextBox 6"/>
          <p:cNvSpPr txBox="1"/>
          <p:nvPr/>
        </p:nvSpPr>
        <p:spPr>
          <a:xfrm>
            <a:off x="914400" y="3200400"/>
            <a:ext cx="10058400" cy="3200400"/>
          </a:xfrm>
          <a:prstGeom prst="rect">
            <a:avLst/>
          </a:prstGeom>
          <a:noFill/>
        </p:spPr>
        <p:txBody>
          <a:bodyPr wrap="square">
            <a:spAutoFit/>
          </a:bodyPr>
          <a:lstStyle/>
          <a:p>
            <a:pPr>
              <a:spcAft>
                <a:spcPts val="800"/>
              </a:spcAft>
              <a:defRPr sz="1800">
                <a:solidFill>
                  <a:srgbClr val="F0F0F0"/>
                </a:solidFill>
                <a:latin typeface="Calibri"/>
              </a:defRPr>
            </a:pPr>
            <a:r>
              <a:t>Styled QR code image (350×350, custom blue color, white background)</a:t>
            </a:r>
          </a:p>
          <a:p>
            <a:pPr>
              <a:spcAft>
                <a:spcPts val="800"/>
              </a:spcAft>
              <a:defRPr sz="1800">
                <a:solidFill>
                  <a:srgbClr val="F0F0F0"/>
                </a:solidFill>
                <a:latin typeface="Calibri"/>
              </a:defRPr>
            </a:pPr>
            <a:r>
              <a:t>Error message for invalid input: 'Please send valid URL'</a:t>
            </a:r>
          </a:p>
          <a:p>
            <a:pPr>
              <a:spcAft>
                <a:spcPts val="800"/>
              </a:spcAft>
              <a:defRPr sz="1800">
                <a:solidFill>
                  <a:srgbClr val="F0F0F0"/>
                </a:solidFill>
                <a:latin typeface="Calibri"/>
              </a:defRPr>
            </a:pPr>
            <a:r>
              <a:t>Consistent caption: 'Here is your QR code'</a:t>
            </a:r>
          </a:p>
          <a:p>
            <a:pPr>
              <a:spcAft>
                <a:spcPts val="800"/>
              </a:spcAft>
              <a:defRPr sz="1800">
                <a:solidFill>
                  <a:srgbClr val="F0F0F0"/>
                </a:solidFill>
                <a:latin typeface="Calibri"/>
              </a:defRPr>
            </a:pPr>
            <a:r>
              <a:t>Response in under 2 seconds (Cloudflare + QRServer latency)</a:t>
            </a:r>
          </a:p>
          <a:p>
            <a:pPr>
              <a:spcAft>
                <a:spcPts val="800"/>
              </a:spcAft>
              <a:defRPr sz="1800">
                <a:solidFill>
                  <a:srgbClr val="F0F0F0"/>
                </a:solidFill>
                <a:latin typeface="Calibri"/>
              </a:defRPr>
            </a:pPr>
            <a:r>
              <a:t>No rate limiting on the bot side (subject to Telegram's limits)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08</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Key Benefits</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Why this approach wins</a:t>
            </a:r>
          </a:p>
        </p:txBody>
      </p:sp>
      <p:sp>
        <p:nvSpPr>
          <p:cNvPr id="7" name="Rectangle 6"/>
          <p:cNvSpPr/>
          <p:nvPr/>
        </p:nvSpPr>
        <p:spPr>
          <a:xfrm>
            <a:off x="731520" y="3017520"/>
            <a:ext cx="10515600" cy="6400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063240"/>
            <a:ext cx="2286000" cy="365760"/>
          </a:xfrm>
          <a:prstGeom prst="rect">
            <a:avLst/>
          </a:prstGeom>
          <a:noFill/>
        </p:spPr>
        <p:txBody>
          <a:bodyPr wrap="square">
            <a:spAutoFit/>
          </a:bodyPr>
          <a:lstStyle/>
          <a:p>
            <a:pPr algn="l">
              <a:defRPr sz="1500" b="1">
                <a:solidFill>
                  <a:srgbClr val="00E696"/>
                </a:solidFill>
                <a:latin typeface="Calibri"/>
              </a:defRPr>
            </a:pPr>
            <a:r>
              <a:t>Zero Cost</a:t>
            </a:r>
          </a:p>
        </p:txBody>
      </p:sp>
      <p:sp>
        <p:nvSpPr>
          <p:cNvPr id="9" name="TextBox 8"/>
          <p:cNvSpPr txBox="1"/>
          <p:nvPr/>
        </p:nvSpPr>
        <p:spPr>
          <a:xfrm>
            <a:off x="3291840" y="3063240"/>
            <a:ext cx="7772400" cy="548640"/>
          </a:xfrm>
          <a:prstGeom prst="rect">
            <a:avLst/>
          </a:prstGeom>
          <a:noFill/>
        </p:spPr>
        <p:txBody>
          <a:bodyPr wrap="square">
            <a:spAutoFit/>
          </a:bodyPr>
          <a:lstStyle/>
          <a:p>
            <a:pPr algn="l">
              <a:defRPr sz="1300" b="0">
                <a:solidFill>
                  <a:srgbClr val="A0A0B0"/>
                </a:solidFill>
                <a:latin typeface="Calibri"/>
              </a:defRPr>
            </a:pPr>
            <a:r>
              <a:t>Cloudflare Tunnel is free. QRServer is free. n8n is free. No paid subscriptions needed.</a:t>
            </a:r>
          </a:p>
        </p:txBody>
      </p:sp>
      <p:sp>
        <p:nvSpPr>
          <p:cNvPr id="10" name="Rectangle 9"/>
          <p:cNvSpPr/>
          <p:nvPr/>
        </p:nvSpPr>
        <p:spPr>
          <a:xfrm>
            <a:off x="731520" y="3767328"/>
            <a:ext cx="10515600" cy="6400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13048"/>
            <a:ext cx="2286000" cy="365760"/>
          </a:xfrm>
          <a:prstGeom prst="rect">
            <a:avLst/>
          </a:prstGeom>
          <a:noFill/>
        </p:spPr>
        <p:txBody>
          <a:bodyPr wrap="square">
            <a:spAutoFit/>
          </a:bodyPr>
          <a:lstStyle/>
          <a:p>
            <a:pPr algn="l">
              <a:defRPr sz="1500" b="1">
                <a:solidFill>
                  <a:srgbClr val="00E696"/>
                </a:solidFill>
                <a:latin typeface="Calibri"/>
              </a:defRPr>
            </a:pPr>
            <a:r>
              <a:t>Always-On HTTPS</a:t>
            </a:r>
          </a:p>
        </p:txBody>
      </p:sp>
      <p:sp>
        <p:nvSpPr>
          <p:cNvPr id="12" name="TextBox 11"/>
          <p:cNvSpPr txBox="1"/>
          <p:nvPr/>
        </p:nvSpPr>
        <p:spPr>
          <a:xfrm>
            <a:off x="3291840" y="3813048"/>
            <a:ext cx="7772400" cy="548640"/>
          </a:xfrm>
          <a:prstGeom prst="rect">
            <a:avLst/>
          </a:prstGeom>
          <a:noFill/>
        </p:spPr>
        <p:txBody>
          <a:bodyPr wrap="square">
            <a:spAutoFit/>
          </a:bodyPr>
          <a:lstStyle/>
          <a:p>
            <a:pPr algn="l">
              <a:defRPr sz="1300" b="0">
                <a:solidFill>
                  <a:srgbClr val="A0A0B0"/>
                </a:solidFill>
                <a:latin typeface="Calibri"/>
              </a:defRPr>
            </a:pPr>
            <a:r>
              <a:t>Cloudflare provides stable HTTPS that doesn't change URLs every session like ngrok.</a:t>
            </a:r>
          </a:p>
        </p:txBody>
      </p:sp>
      <p:sp>
        <p:nvSpPr>
          <p:cNvPr id="13" name="Rectangle 12"/>
          <p:cNvSpPr/>
          <p:nvPr/>
        </p:nvSpPr>
        <p:spPr>
          <a:xfrm>
            <a:off x="731520" y="4517136"/>
            <a:ext cx="10515600" cy="6400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562856"/>
            <a:ext cx="2286000" cy="365760"/>
          </a:xfrm>
          <a:prstGeom prst="rect">
            <a:avLst/>
          </a:prstGeom>
          <a:noFill/>
        </p:spPr>
        <p:txBody>
          <a:bodyPr wrap="square">
            <a:spAutoFit/>
          </a:bodyPr>
          <a:lstStyle/>
          <a:p>
            <a:pPr algn="l">
              <a:defRPr sz="1500" b="1">
                <a:solidFill>
                  <a:srgbClr val="00E696"/>
                </a:solidFill>
                <a:latin typeface="Calibri"/>
              </a:defRPr>
            </a:pPr>
            <a:r>
              <a:t>One-Click Start</a:t>
            </a:r>
          </a:p>
        </p:txBody>
      </p:sp>
      <p:sp>
        <p:nvSpPr>
          <p:cNvPr id="15" name="TextBox 14"/>
          <p:cNvSpPr txBox="1"/>
          <p:nvPr/>
        </p:nvSpPr>
        <p:spPr>
          <a:xfrm>
            <a:off x="3291840" y="4562856"/>
            <a:ext cx="7772400" cy="548640"/>
          </a:xfrm>
          <a:prstGeom prst="rect">
            <a:avLst/>
          </a:prstGeom>
          <a:noFill/>
        </p:spPr>
        <p:txBody>
          <a:bodyPr wrap="square">
            <a:spAutoFit/>
          </a:bodyPr>
          <a:lstStyle/>
          <a:p>
            <a:pPr algn="l">
              <a:defRPr sz="1300" b="0">
                <a:solidFill>
                  <a:srgbClr val="A0A0B0"/>
                </a:solidFill>
                <a:latin typeface="Calibri"/>
              </a:defRPr>
            </a:pPr>
            <a:r>
              <a:t>Python script handles everything: tunnel, env vars, n8n launch. Run one command, done.</a:t>
            </a:r>
          </a:p>
        </p:txBody>
      </p:sp>
      <p:sp>
        <p:nvSpPr>
          <p:cNvPr id="16" name="Rectangle 15"/>
          <p:cNvSpPr/>
          <p:nvPr/>
        </p:nvSpPr>
        <p:spPr>
          <a:xfrm>
            <a:off x="731520" y="5266944"/>
            <a:ext cx="10515600" cy="6400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312664"/>
            <a:ext cx="2286000" cy="365760"/>
          </a:xfrm>
          <a:prstGeom prst="rect">
            <a:avLst/>
          </a:prstGeom>
          <a:noFill/>
        </p:spPr>
        <p:txBody>
          <a:bodyPr wrap="square">
            <a:spAutoFit/>
          </a:bodyPr>
          <a:lstStyle/>
          <a:p>
            <a:pPr algn="l">
              <a:defRPr sz="1500" b="1">
                <a:solidFill>
                  <a:srgbClr val="00E696"/>
                </a:solidFill>
                <a:latin typeface="Calibri"/>
              </a:defRPr>
            </a:pPr>
            <a:r>
              <a:t>Continuous Operation</a:t>
            </a:r>
          </a:p>
        </p:txBody>
      </p:sp>
      <p:sp>
        <p:nvSpPr>
          <p:cNvPr id="18" name="TextBox 17"/>
          <p:cNvSpPr txBox="1"/>
          <p:nvPr/>
        </p:nvSpPr>
        <p:spPr>
          <a:xfrm>
            <a:off x="3291840" y="5312664"/>
            <a:ext cx="7772400" cy="548640"/>
          </a:xfrm>
          <a:prstGeom prst="rect">
            <a:avLst/>
          </a:prstGeom>
          <a:noFill/>
        </p:spPr>
        <p:txBody>
          <a:bodyPr wrap="square">
            <a:spAutoFit/>
          </a:bodyPr>
          <a:lstStyle/>
          <a:p>
            <a:pPr algn="l">
              <a:defRPr sz="1300" b="0">
                <a:solidFill>
                  <a:srgbClr val="A0A0B0"/>
                </a:solidFill>
                <a:latin typeface="Calibri"/>
              </a:defRPr>
            </a:pPr>
            <a:r>
              <a:t>ACTIVE mode means the bot listens indefinitely. No manual restart needed.</a:t>
            </a:r>
          </a:p>
        </p:txBody>
      </p:sp>
      <p:sp>
        <p:nvSpPr>
          <p:cNvPr id="19" name="Rectangle 18"/>
          <p:cNvSpPr/>
          <p:nvPr/>
        </p:nvSpPr>
        <p:spPr>
          <a:xfrm>
            <a:off x="731520" y="6016752"/>
            <a:ext cx="10515600" cy="6400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6062472"/>
            <a:ext cx="2286000" cy="365760"/>
          </a:xfrm>
          <a:prstGeom prst="rect">
            <a:avLst/>
          </a:prstGeom>
          <a:noFill/>
        </p:spPr>
        <p:txBody>
          <a:bodyPr wrap="square">
            <a:spAutoFit/>
          </a:bodyPr>
          <a:lstStyle/>
          <a:p>
            <a:pPr algn="l">
              <a:defRPr sz="1500" b="1">
                <a:solidFill>
                  <a:srgbClr val="00E696"/>
                </a:solidFill>
                <a:latin typeface="Calibri"/>
              </a:defRPr>
            </a:pPr>
            <a:r>
              <a:t>Clean QR Codes</a:t>
            </a:r>
          </a:p>
        </p:txBody>
      </p:sp>
      <p:sp>
        <p:nvSpPr>
          <p:cNvPr id="21" name="TextBox 20"/>
          <p:cNvSpPr txBox="1"/>
          <p:nvPr/>
        </p:nvSpPr>
        <p:spPr>
          <a:xfrm>
            <a:off x="3291840" y="6062472"/>
            <a:ext cx="7772400" cy="548640"/>
          </a:xfrm>
          <a:prstGeom prst="rect">
            <a:avLst/>
          </a:prstGeom>
          <a:noFill/>
        </p:spPr>
        <p:txBody>
          <a:bodyPr wrap="square">
            <a:spAutoFit/>
          </a:bodyPr>
          <a:lstStyle/>
          <a:p>
            <a:pPr algn="l">
              <a:defRPr sz="1300" b="0">
                <a:solidFill>
                  <a:srgbClr val="A0A0B0"/>
                </a:solidFill>
                <a:latin typeface="Calibri"/>
              </a:defRPr>
            </a:pPr>
            <a:r>
              <a:t>Styled with custom colors, ECC correction, and proper quiet zone for better scanning.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09</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Security &amp; Best Practices</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Running safely</a:t>
            </a:r>
          </a:p>
        </p:txBody>
      </p:sp>
      <p:sp>
        <p:nvSpPr>
          <p:cNvPr id="7" name="TextBox 6"/>
          <p:cNvSpPr txBox="1"/>
          <p:nvPr/>
        </p:nvSpPr>
        <p:spPr>
          <a:xfrm>
            <a:off x="914400" y="3200400"/>
            <a:ext cx="10058400" cy="3200400"/>
          </a:xfrm>
          <a:prstGeom prst="rect">
            <a:avLst/>
          </a:prstGeom>
          <a:noFill/>
        </p:spPr>
        <p:txBody>
          <a:bodyPr wrap="square">
            <a:spAutoFit/>
          </a:bodyPr>
          <a:lstStyle/>
          <a:p>
            <a:pPr>
              <a:spcAft>
                <a:spcPts val="800"/>
              </a:spcAft>
              <a:defRPr sz="1700">
                <a:solidFill>
                  <a:srgbClr val="F0F0F0"/>
                </a:solidFill>
                <a:latin typeface="Calibri"/>
              </a:defRPr>
            </a:pPr>
            <a:r>
              <a:t>HTTPS end-to-end: Telegram → Cloudflare → n8n (no plaintext webhooks)</a:t>
            </a:r>
          </a:p>
          <a:p>
            <a:pPr>
              <a:spcAft>
                <a:spcPts val="800"/>
              </a:spcAft>
              <a:defRPr sz="1700">
                <a:solidFill>
                  <a:srgbClr val="F0F0F0"/>
                </a:solidFill>
                <a:latin typeface="Calibri"/>
              </a:defRPr>
            </a:pPr>
            <a:r>
              <a:t>URL validation blocks malicious or malformed input before processing</a:t>
            </a:r>
          </a:p>
          <a:p>
            <a:pPr>
              <a:spcAft>
                <a:spcPts val="800"/>
              </a:spcAft>
              <a:defRPr sz="1700">
                <a:solidFill>
                  <a:srgbClr val="F0F0F0"/>
                </a:solidFill>
                <a:latin typeface="Calibri"/>
              </a:defRPr>
            </a:pPr>
            <a:r>
              <a:t>No sensitive data stored — QR codes are generated on-the-fly and discarded</a:t>
            </a:r>
          </a:p>
          <a:p>
            <a:pPr>
              <a:spcAft>
                <a:spcPts val="800"/>
              </a:spcAft>
              <a:defRPr sz="1700">
                <a:solidFill>
                  <a:srgbClr val="F0F0F0"/>
                </a:solidFill>
                <a:latin typeface="Calibri"/>
              </a:defRPr>
            </a:pPr>
            <a:r>
              <a:t>Bot token stored in n8n credential system (encrypted at rest)</a:t>
            </a:r>
          </a:p>
          <a:p>
            <a:pPr>
              <a:spcAft>
                <a:spcPts val="800"/>
              </a:spcAft>
              <a:defRPr sz="1700">
                <a:solidFill>
                  <a:srgbClr val="F0F0F0"/>
                </a:solidFill>
                <a:latin typeface="Calibri"/>
              </a:defRPr>
            </a:pPr>
            <a:r>
              <a:t>Local machine only — PC must be ON and connected to internet</a:t>
            </a:r>
          </a:p>
          <a:p>
            <a:pPr>
              <a:spcAft>
                <a:spcPts val="800"/>
              </a:spcAft>
              <a:defRPr sz="1700">
                <a:solidFill>
                  <a:srgbClr val="F0F0F0"/>
                </a:solidFill>
                <a:latin typeface="Calibri"/>
              </a:defRPr>
            </a:pPr>
            <a:r>
              <a:t>No authentication on the QRServer API (public service, use responsibly)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10</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Live Demo</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See it in action</a:t>
            </a:r>
          </a:p>
        </p:txBody>
      </p:sp>
      <p:sp>
        <p:nvSpPr>
          <p:cNvPr id="7" name="TextBox 6"/>
          <p:cNvSpPr txBox="1"/>
          <p:nvPr/>
        </p:nvSpPr>
        <p:spPr>
          <a:xfrm>
            <a:off x="914400" y="3200400"/>
            <a:ext cx="10058400" cy="3200400"/>
          </a:xfrm>
          <a:prstGeom prst="rect">
            <a:avLst/>
          </a:prstGeom>
          <a:noFill/>
        </p:spPr>
        <p:txBody>
          <a:bodyPr wrap="square">
            <a:spAutoFit/>
          </a:bodyPr>
          <a:lstStyle/>
          <a:p>
            <a:pPr>
              <a:spcAft>
                <a:spcPts val="800"/>
              </a:spcAft>
              <a:defRPr sz="1800">
                <a:solidFill>
                  <a:srgbClr val="F0F0F0"/>
                </a:solidFill>
                <a:latin typeface="Calibri"/>
              </a:defRPr>
            </a:pPr>
            <a:r>
              <a:t>Send: https://github.com</a:t>
            </a:r>
          </a:p>
          <a:p>
            <a:pPr>
              <a:spcAft>
                <a:spcPts val="800"/>
              </a:spcAft>
              <a:defRPr sz="1800">
                <a:solidFill>
                  <a:srgbClr val="F0F0F0"/>
                </a:solidFill>
                <a:latin typeface="Calibri"/>
              </a:defRPr>
            </a:pPr>
            <a:r>
              <a:t>Bot replies with QR code for github.com</a:t>
            </a:r>
          </a:p>
          <a:p>
            <a:pPr>
              <a:spcAft>
                <a:spcPts val="800"/>
              </a:spcAft>
              <a:defRPr sz="1800">
                <a:solidFill>
                  <a:srgbClr val="F0F0F0"/>
                </a:solidFill>
                <a:latin typeface="Calibri"/>
              </a:defRPr>
            </a:pPr>
          </a:p>
          <a:p>
            <a:pPr>
              <a:spcAft>
                <a:spcPts val="800"/>
              </a:spcAft>
              <a:defRPr sz="1800">
                <a:solidFill>
                  <a:srgbClr val="F0F0F0"/>
                </a:solidFill>
                <a:latin typeface="Calibri"/>
              </a:defRPr>
            </a:pPr>
            <a:r>
              <a:t>Send: hello</a:t>
            </a:r>
          </a:p>
          <a:p>
            <a:pPr>
              <a:spcAft>
                <a:spcPts val="800"/>
              </a:spcAft>
              <a:defRPr sz="1800">
                <a:solidFill>
                  <a:srgbClr val="F0F0F0"/>
                </a:solidFill>
                <a:latin typeface="Calibri"/>
              </a:defRPr>
            </a:pPr>
            <a:r>
              <a:t>Bot replies: 'Please send valid URL'</a:t>
            </a:r>
          </a:p>
          <a:p>
            <a:pPr>
              <a:spcAft>
                <a:spcPts val="800"/>
              </a:spcAft>
              <a:defRPr sz="1800">
                <a:solidFill>
                  <a:srgbClr val="F0F0F0"/>
                </a:solidFill>
                <a:latin typeface="Calibri"/>
              </a:defRPr>
            </a:pPr>
          </a:p>
          <a:p>
            <a:pPr>
              <a:spcAft>
                <a:spcPts val="800"/>
              </a:spcAft>
              <a:defRPr sz="1800">
                <a:solidFill>
                  <a:srgbClr val="F0F0F0"/>
                </a:solidFill>
                <a:latin typeface="Calibri"/>
              </a:defRPr>
            </a:pPr>
            <a:r>
              <a:t>Send: https://www.google.com/search?q=n8n</a:t>
            </a:r>
          </a:p>
          <a:p>
            <a:pPr>
              <a:spcAft>
                <a:spcPts val="800"/>
              </a:spcAft>
              <a:defRPr sz="1800">
                <a:solidFill>
                  <a:srgbClr val="F0F0F0"/>
                </a:solidFill>
                <a:latin typeface="Calibri"/>
              </a:defRPr>
            </a:pPr>
            <a:r>
              <a:t>Bot replies with QR for the search URL</a:t>
            </a:r>
          </a:p>
          <a:p>
            <a:pPr>
              <a:spcAft>
                <a:spcPts val="800"/>
              </a:spcAft>
              <a:defRPr sz="1800">
                <a:solidFill>
                  <a:srgbClr val="F0F0F0"/>
                </a:solidFill>
                <a:latin typeface="Calibri"/>
              </a:defRPr>
            </a:pPr>
          </a:p>
          <a:p>
            <a:pPr>
              <a:spcAft>
                <a:spcPts val="800"/>
              </a:spcAft>
              <a:defRPr sz="1800">
                <a:solidFill>
                  <a:srgbClr val="F0F0F0"/>
                </a:solidFill>
                <a:latin typeface="Calibri"/>
              </a:defRPr>
            </a:pPr>
            <a:r>
              <a:t>All within 2 seconds per request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1371600"/>
            <a:ext cx="1097280" cy="10972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3600" b="1">
                <a:solidFill>
                  <a:srgbClr val="F0F0F0"/>
                </a:solidFill>
                <a:latin typeface="Calibri"/>
              </a:defRPr>
            </a:pPr>
            <a:r>
              <a:t>11</a:t>
            </a:r>
          </a:p>
        </p:txBody>
      </p:sp>
      <p:sp>
        <p:nvSpPr>
          <p:cNvPr id="4" name="TextBox 3"/>
          <p:cNvSpPr txBox="1"/>
          <p:nvPr/>
        </p:nvSpPr>
        <p:spPr>
          <a:xfrm>
            <a:off x="2194560" y="1371600"/>
            <a:ext cx="9144000" cy="914400"/>
          </a:xfrm>
          <a:prstGeom prst="rect">
            <a:avLst/>
          </a:prstGeom>
          <a:noFill/>
        </p:spPr>
        <p:txBody>
          <a:bodyPr wrap="square">
            <a:spAutoFit/>
          </a:bodyPr>
          <a:lstStyle/>
          <a:p>
            <a:pPr algn="l">
              <a:defRPr sz="3600" b="1">
                <a:solidFill>
                  <a:srgbClr val="F0F0F0"/>
                </a:solidFill>
                <a:latin typeface="Calibri"/>
              </a:defRPr>
            </a:pPr>
            <a:r>
              <a:t>Future Roadmap</a:t>
            </a:r>
          </a:p>
        </p:txBody>
      </p:sp>
      <p:sp>
        <p:nvSpPr>
          <p:cNvPr id="5" name="Rectangle 4"/>
          <p:cNvSpPr/>
          <p:nvPr/>
        </p:nvSpPr>
        <p:spPr>
          <a:xfrm>
            <a:off x="2194560" y="2377440"/>
            <a:ext cx="274320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94560" y="2651760"/>
            <a:ext cx="9144000" cy="731520"/>
          </a:xfrm>
          <a:prstGeom prst="rect">
            <a:avLst/>
          </a:prstGeom>
          <a:noFill/>
        </p:spPr>
        <p:txBody>
          <a:bodyPr wrap="square">
            <a:spAutoFit/>
          </a:bodyPr>
          <a:lstStyle/>
          <a:p>
            <a:pPr algn="l">
              <a:defRPr sz="1800" b="0">
                <a:solidFill>
                  <a:srgbClr val="A0A0B0"/>
                </a:solidFill>
                <a:latin typeface="Calibri"/>
              </a:defRPr>
            </a:pPr>
            <a:r>
              <a:t>What's coming next</a:t>
            </a:r>
          </a:p>
        </p:txBody>
      </p:sp>
      <p:sp>
        <p:nvSpPr>
          <p:cNvPr id="7" name="Rectangle 6"/>
          <p:cNvSpPr/>
          <p:nvPr/>
        </p:nvSpPr>
        <p:spPr>
          <a:xfrm>
            <a:off x="731520" y="3017520"/>
            <a:ext cx="10515600" cy="5943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035808"/>
            <a:ext cx="2743200" cy="320040"/>
          </a:xfrm>
          <a:prstGeom prst="rect">
            <a:avLst/>
          </a:prstGeom>
          <a:noFill/>
        </p:spPr>
        <p:txBody>
          <a:bodyPr wrap="square">
            <a:spAutoFit/>
          </a:bodyPr>
          <a:lstStyle/>
          <a:p>
            <a:pPr algn="l">
              <a:defRPr sz="1400" b="1">
                <a:solidFill>
                  <a:srgbClr val="FFA500"/>
                </a:solidFill>
                <a:latin typeface="Calibri"/>
              </a:defRPr>
            </a:pPr>
            <a:r>
              <a:t>Custom QR Themes</a:t>
            </a:r>
          </a:p>
        </p:txBody>
      </p:sp>
      <p:sp>
        <p:nvSpPr>
          <p:cNvPr id="9" name="TextBox 8"/>
          <p:cNvSpPr txBox="1"/>
          <p:nvPr/>
        </p:nvSpPr>
        <p:spPr>
          <a:xfrm>
            <a:off x="3840480" y="3035808"/>
            <a:ext cx="7315200" cy="548640"/>
          </a:xfrm>
          <a:prstGeom prst="rect">
            <a:avLst/>
          </a:prstGeom>
          <a:noFill/>
        </p:spPr>
        <p:txBody>
          <a:bodyPr wrap="square">
            <a:spAutoFit/>
          </a:bodyPr>
          <a:lstStyle/>
          <a:p>
            <a:pPr algn="l">
              <a:defRPr sz="1200" b="0">
                <a:solidFill>
                  <a:srgbClr val="A0A0B0"/>
                </a:solidFill>
                <a:latin typeface="Calibri"/>
              </a:defRPr>
            </a:pPr>
            <a:r>
              <a:t>Allow users to select colors, add logos, or choose patterns via Telegram commands</a:t>
            </a:r>
          </a:p>
        </p:txBody>
      </p:sp>
      <p:sp>
        <p:nvSpPr>
          <p:cNvPr id="10" name="Rectangle 9"/>
          <p:cNvSpPr/>
          <p:nvPr/>
        </p:nvSpPr>
        <p:spPr>
          <a:xfrm>
            <a:off x="731520" y="3730752"/>
            <a:ext cx="10515600" cy="5943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749040"/>
            <a:ext cx="2743200" cy="320040"/>
          </a:xfrm>
          <a:prstGeom prst="rect">
            <a:avLst/>
          </a:prstGeom>
          <a:noFill/>
        </p:spPr>
        <p:txBody>
          <a:bodyPr wrap="square">
            <a:spAutoFit/>
          </a:bodyPr>
          <a:lstStyle/>
          <a:p>
            <a:pPr algn="l">
              <a:defRPr sz="1400" b="1">
                <a:solidFill>
                  <a:srgbClr val="FFA500"/>
                </a:solidFill>
                <a:latin typeface="Calibri"/>
              </a:defRPr>
            </a:pPr>
            <a:r>
              <a:t>QR History</a:t>
            </a:r>
          </a:p>
        </p:txBody>
      </p:sp>
      <p:sp>
        <p:nvSpPr>
          <p:cNvPr id="12" name="TextBox 11"/>
          <p:cNvSpPr txBox="1"/>
          <p:nvPr/>
        </p:nvSpPr>
        <p:spPr>
          <a:xfrm>
            <a:off x="3840480" y="3749040"/>
            <a:ext cx="7315200" cy="548640"/>
          </a:xfrm>
          <a:prstGeom prst="rect">
            <a:avLst/>
          </a:prstGeom>
          <a:noFill/>
        </p:spPr>
        <p:txBody>
          <a:bodyPr wrap="square">
            <a:spAutoFit/>
          </a:bodyPr>
          <a:lstStyle/>
          <a:p>
            <a:pPr algn="l">
              <a:defRPr sz="1200" b="0">
                <a:solidFill>
                  <a:srgbClr val="A0A0B0"/>
                </a:solidFill>
                <a:latin typeface="Calibri"/>
              </a:defRPr>
            </a:pPr>
            <a:r>
              <a:t>Save generated QR codes to a database and let users browse past codes</a:t>
            </a:r>
          </a:p>
        </p:txBody>
      </p:sp>
      <p:sp>
        <p:nvSpPr>
          <p:cNvPr id="13" name="Rectangle 12"/>
          <p:cNvSpPr/>
          <p:nvPr/>
        </p:nvSpPr>
        <p:spPr>
          <a:xfrm>
            <a:off x="731520" y="4443984"/>
            <a:ext cx="10515600" cy="5943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462272"/>
            <a:ext cx="2743200" cy="320040"/>
          </a:xfrm>
          <a:prstGeom prst="rect">
            <a:avLst/>
          </a:prstGeom>
          <a:noFill/>
        </p:spPr>
        <p:txBody>
          <a:bodyPr wrap="square">
            <a:spAutoFit/>
          </a:bodyPr>
          <a:lstStyle/>
          <a:p>
            <a:pPr algn="l">
              <a:defRPr sz="1400" b="1">
                <a:solidFill>
                  <a:srgbClr val="FFA500"/>
                </a:solidFill>
                <a:latin typeface="Calibri"/>
              </a:defRPr>
            </a:pPr>
            <a:r>
              <a:t>VPS Deployment</a:t>
            </a:r>
          </a:p>
        </p:txBody>
      </p:sp>
      <p:sp>
        <p:nvSpPr>
          <p:cNvPr id="15" name="TextBox 14"/>
          <p:cNvSpPr txBox="1"/>
          <p:nvPr/>
        </p:nvSpPr>
        <p:spPr>
          <a:xfrm>
            <a:off x="3840480" y="4462272"/>
            <a:ext cx="7315200" cy="548640"/>
          </a:xfrm>
          <a:prstGeom prst="rect">
            <a:avLst/>
          </a:prstGeom>
          <a:noFill/>
        </p:spPr>
        <p:txBody>
          <a:bodyPr wrap="square">
            <a:spAutoFit/>
          </a:bodyPr>
          <a:lstStyle/>
          <a:p>
            <a:pPr algn="l">
              <a:defRPr sz="1200" b="0">
                <a:solidFill>
                  <a:srgbClr val="A0A0B0"/>
                </a:solidFill>
                <a:latin typeface="Calibri"/>
              </a:defRPr>
            </a:pPr>
            <a:r>
              <a:t>Deploy to a cloud VPS for 24/7 uptime instead of depending on local PC</a:t>
            </a:r>
          </a:p>
        </p:txBody>
      </p:sp>
      <p:sp>
        <p:nvSpPr>
          <p:cNvPr id="16" name="Rectangle 15"/>
          <p:cNvSpPr/>
          <p:nvPr/>
        </p:nvSpPr>
        <p:spPr>
          <a:xfrm>
            <a:off x="731520" y="5157216"/>
            <a:ext cx="10515600" cy="5943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175504"/>
            <a:ext cx="2743200" cy="320040"/>
          </a:xfrm>
          <a:prstGeom prst="rect">
            <a:avLst/>
          </a:prstGeom>
          <a:noFill/>
        </p:spPr>
        <p:txBody>
          <a:bodyPr wrap="square">
            <a:spAutoFit/>
          </a:bodyPr>
          <a:lstStyle/>
          <a:p>
            <a:pPr algn="l">
              <a:defRPr sz="1400" b="1">
                <a:solidFill>
                  <a:srgbClr val="FFA500"/>
                </a:solidFill>
                <a:latin typeface="Calibri"/>
              </a:defRPr>
            </a:pPr>
            <a:r>
              <a:t>UPI QR Generator</a:t>
            </a:r>
          </a:p>
        </p:txBody>
      </p:sp>
      <p:sp>
        <p:nvSpPr>
          <p:cNvPr id="18" name="TextBox 17"/>
          <p:cNvSpPr txBox="1"/>
          <p:nvPr/>
        </p:nvSpPr>
        <p:spPr>
          <a:xfrm>
            <a:off x="3840480" y="5175504"/>
            <a:ext cx="7315200" cy="548640"/>
          </a:xfrm>
          <a:prstGeom prst="rect">
            <a:avLst/>
          </a:prstGeom>
          <a:noFill/>
        </p:spPr>
        <p:txBody>
          <a:bodyPr wrap="square">
            <a:spAutoFit/>
          </a:bodyPr>
          <a:lstStyle/>
          <a:p>
            <a:pPr algn="l">
              <a:defRPr sz="1200" b="0">
                <a:solidFill>
                  <a:srgbClr val="A0A0B0"/>
                </a:solidFill>
                <a:latin typeface="Calibri"/>
              </a:defRPr>
            </a:pPr>
            <a:r>
              <a:t>Generate UPI payment QR codes for Indian users with amount support</a:t>
            </a:r>
          </a:p>
        </p:txBody>
      </p:sp>
      <p:sp>
        <p:nvSpPr>
          <p:cNvPr id="19" name="Rectangle 18"/>
          <p:cNvSpPr/>
          <p:nvPr/>
        </p:nvSpPr>
        <p:spPr>
          <a:xfrm>
            <a:off x="731520" y="5870448"/>
            <a:ext cx="10515600" cy="5943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888736"/>
            <a:ext cx="2743200" cy="320040"/>
          </a:xfrm>
          <a:prstGeom prst="rect">
            <a:avLst/>
          </a:prstGeom>
          <a:noFill/>
        </p:spPr>
        <p:txBody>
          <a:bodyPr wrap="square">
            <a:spAutoFit/>
          </a:bodyPr>
          <a:lstStyle/>
          <a:p>
            <a:pPr algn="l">
              <a:defRPr sz="1400" b="1">
                <a:solidFill>
                  <a:srgbClr val="FFA500"/>
                </a:solidFill>
                <a:latin typeface="Calibri"/>
              </a:defRPr>
            </a:pPr>
            <a:r>
              <a:t>Multi-Command Bot</a:t>
            </a:r>
          </a:p>
        </p:txBody>
      </p:sp>
      <p:sp>
        <p:nvSpPr>
          <p:cNvPr id="21" name="TextBox 20"/>
          <p:cNvSpPr txBox="1"/>
          <p:nvPr/>
        </p:nvSpPr>
        <p:spPr>
          <a:xfrm>
            <a:off x="3840480" y="5888736"/>
            <a:ext cx="7315200" cy="548640"/>
          </a:xfrm>
          <a:prstGeom prst="rect">
            <a:avLst/>
          </a:prstGeom>
          <a:noFill/>
        </p:spPr>
        <p:txBody>
          <a:bodyPr wrap="square">
            <a:spAutoFit/>
          </a:bodyPr>
          <a:lstStyle/>
          <a:p>
            <a:pPr algn="l">
              <a:defRPr sz="1200" b="0">
                <a:solidFill>
                  <a:srgbClr val="A0A0B0"/>
                </a:solidFill>
                <a:latin typeface="Calibri"/>
              </a:defRPr>
            </a:pPr>
            <a:r>
              <a:t>Add more commands: /help, /history, /theme, /stats</a:t>
            </a:r>
          </a:p>
        </p:txBody>
      </p:sp>
      <p:sp>
        <p:nvSpPr>
          <p:cNvPr id="22" name="Rectangle 21"/>
          <p:cNvSpPr/>
          <p:nvPr/>
        </p:nvSpPr>
        <p:spPr>
          <a:xfrm>
            <a:off x="731520" y="6583680"/>
            <a:ext cx="10515600" cy="5943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6601968"/>
            <a:ext cx="2743200" cy="320040"/>
          </a:xfrm>
          <a:prstGeom prst="rect">
            <a:avLst/>
          </a:prstGeom>
          <a:noFill/>
        </p:spPr>
        <p:txBody>
          <a:bodyPr wrap="square">
            <a:spAutoFit/>
          </a:bodyPr>
          <a:lstStyle/>
          <a:p>
            <a:pPr algn="l">
              <a:defRPr sz="1400" b="1">
                <a:solidFill>
                  <a:srgbClr val="FFA500"/>
                </a:solidFill>
                <a:latin typeface="Calibri"/>
              </a:defRPr>
            </a:pPr>
            <a:r>
              <a:t>Analytics Dashboard</a:t>
            </a:r>
          </a:p>
        </p:txBody>
      </p:sp>
      <p:sp>
        <p:nvSpPr>
          <p:cNvPr id="24" name="TextBox 23"/>
          <p:cNvSpPr txBox="1"/>
          <p:nvPr/>
        </p:nvSpPr>
        <p:spPr>
          <a:xfrm>
            <a:off x="3840480" y="6601968"/>
            <a:ext cx="7315200" cy="548640"/>
          </a:xfrm>
          <a:prstGeom prst="rect">
            <a:avLst/>
          </a:prstGeom>
          <a:noFill/>
        </p:spPr>
        <p:txBody>
          <a:bodyPr wrap="square">
            <a:spAutoFit/>
          </a:bodyPr>
          <a:lstStyle/>
          <a:p>
            <a:pPr algn="l">
              <a:defRPr sz="1200" b="0">
                <a:solidFill>
                  <a:srgbClr val="A0A0B0"/>
                </a:solidFill>
                <a:latin typeface="Calibri"/>
              </a:defRPr>
            </a:pPr>
            <a:r>
              <a:t>Track usage metrics: number of QR codes generated, popular URLs, errors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635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058400" cy="914400"/>
          </a:xfrm>
          <a:prstGeom prst="rect">
            <a:avLst/>
          </a:prstGeom>
          <a:noFill/>
        </p:spPr>
        <p:txBody>
          <a:bodyPr wrap="square">
            <a:spAutoFit/>
          </a:bodyPr>
          <a:lstStyle/>
          <a:p>
            <a:pPr algn="ctr">
              <a:defRPr sz="4800" b="1">
                <a:solidFill>
                  <a:srgbClr val="F0F0F0"/>
                </a:solidFill>
                <a:latin typeface="Calibri"/>
              </a:defRPr>
            </a:pPr>
            <a:r>
              <a:t>Thank You</a:t>
            </a:r>
          </a:p>
        </p:txBody>
      </p:sp>
      <p:sp>
        <p:nvSpPr>
          <p:cNvPr id="4" name="Rectangle 3"/>
          <p:cNvSpPr/>
          <p:nvPr/>
        </p:nvSpPr>
        <p:spPr>
          <a:xfrm>
            <a:off x="4572000" y="3017520"/>
            <a:ext cx="3017520" cy="38100"/>
          </a:xfrm>
          <a:prstGeom prst="rect">
            <a:avLst/>
          </a:prstGeom>
          <a:solidFill>
            <a:srgbClr val="00E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291840"/>
            <a:ext cx="10058400" cy="548640"/>
          </a:xfrm>
          <a:prstGeom prst="rect">
            <a:avLst/>
          </a:prstGeom>
          <a:noFill/>
        </p:spPr>
        <p:txBody>
          <a:bodyPr wrap="square">
            <a:spAutoFit/>
          </a:bodyPr>
          <a:lstStyle/>
          <a:p>
            <a:pPr algn="ctr">
              <a:defRPr sz="2200" b="0">
                <a:solidFill>
                  <a:srgbClr val="A0A0B0"/>
                </a:solidFill>
                <a:latin typeface="Calibri"/>
              </a:defRPr>
            </a:pPr>
            <a:r>
              <a:t>Questions? Feedback? Let's connect.</a:t>
            </a:r>
          </a:p>
        </p:txBody>
      </p:sp>
      <p:sp>
        <p:nvSpPr>
          <p:cNvPr id="6" name="TextBox 5"/>
          <p:cNvSpPr txBox="1"/>
          <p:nvPr/>
        </p:nvSpPr>
        <p:spPr>
          <a:xfrm>
            <a:off x="914400" y="4389120"/>
            <a:ext cx="10058400" cy="457200"/>
          </a:xfrm>
          <a:prstGeom prst="rect">
            <a:avLst/>
          </a:prstGeom>
          <a:noFill/>
        </p:spPr>
        <p:txBody>
          <a:bodyPr wrap="square">
            <a:spAutoFit/>
          </a:bodyPr>
          <a:lstStyle/>
          <a:p>
            <a:pPr algn="ctr">
              <a:defRPr sz="2000" b="1">
                <a:solidFill>
                  <a:srgbClr val="00B4D8"/>
                </a:solidFill>
                <a:latin typeface="Calibri"/>
              </a:defRPr>
            </a:pPr>
            <a:r>
              <a:t>Nitin Kumar</a:t>
            </a:r>
          </a:p>
        </p:txBody>
      </p:sp>
      <p:sp>
        <p:nvSpPr>
          <p:cNvPr id="7" name="TextBox 6"/>
          <p:cNvSpPr txBox="1"/>
          <p:nvPr/>
        </p:nvSpPr>
        <p:spPr>
          <a:xfrm>
            <a:off x="914400" y="4846320"/>
            <a:ext cx="10058400" cy="457200"/>
          </a:xfrm>
          <a:prstGeom prst="rect">
            <a:avLst/>
          </a:prstGeom>
          <a:noFill/>
        </p:spPr>
        <p:txBody>
          <a:bodyPr wrap="square">
            <a:spAutoFit/>
          </a:bodyPr>
          <a:lstStyle/>
          <a:p>
            <a:pPr algn="ctr">
              <a:defRPr sz="1400" b="0">
                <a:solidFill>
                  <a:srgbClr val="707080"/>
                </a:solidFill>
                <a:latin typeface="Calibri"/>
              </a:defRPr>
            </a:pPr>
            <a:r>
              <a:t>linkedin.com/in/nitin30kumar  •  github.com/nitinkumar30</a:t>
            </a:r>
          </a:p>
        </p:txBody>
      </p:sp>
      <p:sp>
        <p:nvSpPr>
          <p:cNvPr id="8" name="TextBox 7"/>
          <p:cNvSpPr txBox="1"/>
          <p:nvPr/>
        </p:nvSpPr>
        <p:spPr>
          <a:xfrm>
            <a:off x="914400" y="5394960"/>
            <a:ext cx="10058400" cy="457200"/>
          </a:xfrm>
          <a:prstGeom prst="rect">
            <a:avLst/>
          </a:prstGeom>
          <a:noFill/>
        </p:spPr>
        <p:txBody>
          <a:bodyPr wrap="square">
            <a:spAutoFit/>
          </a:bodyPr>
          <a:lstStyle/>
          <a:p>
            <a:pPr algn="ctr">
              <a:defRPr sz="1400" b="0">
                <a:solidFill>
                  <a:srgbClr val="707080"/>
                </a:solidFill>
                <a:latin typeface="Calibri"/>
              </a:defRPr>
            </a:pPr>
            <a:r>
              <a:t>github.com/nitinkumar30/n8n-projects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